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 dirty="0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so.org/isoiec-27001-information-security.html" TargetMode="External"/><Relationship Id="rId5" Type="http://schemas.openxmlformats.org/officeDocument/2006/relationships/hyperlink" Target="https://attack.mitre.org/" TargetMode="External"/><Relationship Id="rId4" Type="http://schemas.openxmlformats.org/officeDocument/2006/relationships/hyperlink" Target="https://www.nist.gov/cyberframewor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450" y="1565554"/>
            <a:ext cx="5924550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SIH26157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Supervisory Analytics Tool for SOC Assessment (SAT-SA)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Miscellaneous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ID- 074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Coder Rise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135022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DETAILS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Coder</a:t>
            </a:r>
          </a:p>
          <a:p>
            <a:pPr algn="ctr"/>
            <a:r>
              <a:rPr lang="en-US" dirty="0"/>
              <a:t>Rise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5D4CB5-D986-D0C1-90CC-6D89F94F5E2B}"/>
              </a:ext>
            </a:extLst>
          </p:cNvPr>
          <p:cNvSpPr txBox="1"/>
          <p:nvPr/>
        </p:nvSpPr>
        <p:spPr>
          <a:xfrm>
            <a:off x="329773" y="1161847"/>
            <a:ext cx="113411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Supervisory Analytics Tool for SOC Assessment (SAT-SA)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is a software-based supervisory analytics platform that analyses SOC operational evidence from Critical Sector Entities (CSEs) to identify operational patterns and weaknesses requiring supervisory attention.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enables supervisors to analyse alerts, cases, investigations and escalation records, prioritise evidence for manual review, and generate explainable, evidence-backed supervisory findings and reports.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6B098A-B428-AD5C-378B-E0EA554341F4}"/>
              </a:ext>
            </a:extLst>
          </p:cNvPr>
          <p:cNvSpPr/>
          <p:nvPr/>
        </p:nvSpPr>
        <p:spPr>
          <a:xfrm>
            <a:off x="447758" y="2737185"/>
            <a:ext cx="5552573" cy="34810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How It Addresses the Problem ?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Periodic CSE Data</a:t>
            </a:r>
            <a:b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Data Ingestion &amp; Validation</a:t>
            </a:r>
            <a:b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Supervisory Analytics</a:t>
            </a:r>
            <a:b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Execution Gaps | Negative Space | Anomalies | Peer Benchmarking</a:t>
            </a:r>
            <a:b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Entity Attention Score</a:t>
            </a:r>
            <a:b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Evidence-backed Prioritisation</a:t>
            </a:r>
            <a:b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Human Supervisory Review</a:t>
            </a:r>
            <a:b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b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Supervisory Report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0AD94B-655D-0C56-FEB2-7B197EA7CA6E}"/>
              </a:ext>
            </a:extLst>
          </p:cNvPr>
          <p:cNvSpPr/>
          <p:nvPr/>
        </p:nvSpPr>
        <p:spPr>
          <a:xfrm>
            <a:off x="6390968" y="2737184"/>
            <a:ext cx="5043948" cy="34810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Innovation / Uniqueness: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Execution Gap Detection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Negative Space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Explainable Attention Scoring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Peer Benchmarking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Evidence Traceability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Multi-CSE Comparative Assessment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Evidence-backed Sample Prioritisation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Human-in-the-Loop Assessment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Offline / Air-Gapped Operation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Coder Rise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D7AE02-BE40-7AB9-3B98-BD6A4D5603CA}"/>
              </a:ext>
            </a:extLst>
          </p:cNvPr>
          <p:cNvSpPr txBox="1"/>
          <p:nvPr/>
        </p:nvSpPr>
        <p:spPr>
          <a:xfrm>
            <a:off x="508815" y="1059580"/>
            <a:ext cx="507344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Programming Languages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Frontend: React,Vite,CSS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Backend: </a:t>
            </a:r>
            <a:r>
              <a:rPr 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Python,FastAPI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Database: SQLite,PostgreSQL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ORM: SQLAlchemy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noProof="1">
                <a:latin typeface="Arial" panose="020B0604020202020204" pitchFamily="34" charset="0"/>
                <a:cs typeface="Arial" panose="020B0604020202020204" pitchFamily="34" charset="0"/>
              </a:rPr>
              <a:t>Migration: Alembic</a:t>
            </a:r>
          </a:p>
          <a:p>
            <a:endParaRPr lang="en-US" sz="20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noProof="1">
                <a:latin typeface="Arial" panose="020B0604020202020204" pitchFamily="34" charset="0"/>
                <a:cs typeface="Arial" panose="020B0604020202020204" pitchFamily="34" charset="0"/>
              </a:rPr>
              <a:t>Data Processing &amp; Ingestion: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CSV / JSON Data Ingestion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Data Validation &amp; Normalization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Duplicate Handling &amp; Batch Tracking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Structured Database Storage</a:t>
            </a:r>
          </a:p>
          <a:p>
            <a:endParaRPr lang="en-IN" sz="2000" b="1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Security / Supervisory Detection: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➢ Execution Gap Detection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➢ Negative Space Analysis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➢ Operational Anomaly Detection</a:t>
            </a:r>
            <a:br>
              <a:rPr lang="en-IN" sz="2000" dirty="0"/>
            </a:br>
            <a:endParaRPr lang="en-US" sz="2000" b="1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AD1A0D-37DF-8038-260E-CC4022B83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761" y="1029993"/>
            <a:ext cx="6631466" cy="50266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Coder</a:t>
            </a:r>
          </a:p>
          <a:p>
            <a:pPr algn="ctr"/>
            <a:r>
              <a:rPr lang="en-US" dirty="0"/>
              <a:t>Rise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C17F43-BCE3-0F33-9A27-6150AB2DEBA1}"/>
              </a:ext>
            </a:extLst>
          </p:cNvPr>
          <p:cNvSpPr txBox="1"/>
          <p:nvPr/>
        </p:nvSpPr>
        <p:spPr>
          <a:xfrm>
            <a:off x="501443" y="1144500"/>
            <a:ext cx="519143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Feasibility Analysis: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Completely software-based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Working on local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Lightweight technology stack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Air-gapped deployment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No external cloud or AI/API dependency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Deterministic &amp; explainable analytics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Modular architecture for future expansion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0D2969-601A-2461-9CAD-6353D50C78CC}"/>
              </a:ext>
            </a:extLst>
          </p:cNvPr>
          <p:cNvSpPr txBox="1"/>
          <p:nvPr/>
        </p:nvSpPr>
        <p:spPr>
          <a:xfrm>
            <a:off x="501443" y="3780514"/>
            <a:ext cx="559455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Potential Challenges: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Large volume of SOC operational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Incomplete or missing evidence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False positives from analytical rules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Limited historical data for anomaly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Insufficient peer data for benchmarking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Changing supervisory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8AC2F-0E5E-84DB-FC70-4B854EA1CF18}"/>
              </a:ext>
            </a:extLst>
          </p:cNvPr>
          <p:cNvSpPr txBox="1"/>
          <p:nvPr/>
        </p:nvSpPr>
        <p:spPr>
          <a:xfrm>
            <a:off x="6095998" y="1159665"/>
            <a:ext cx="5594556" cy="404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Mitigation: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Configurable analytical rules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- continuous refinement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Evidence traceability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- transparent verification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Human-in-the-loop review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- final assessment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Baseline &amp; peer-data validation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- before interpreting deviations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Modular architecture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- add new analytics and data 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Explicit handling of unavailable evidence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IN" sz="1900" i="1" dirty="0">
                <a:latin typeface="Arial" panose="020B0604020202020204" pitchFamily="34" charset="0"/>
                <a:cs typeface="Arial" panose="020B0604020202020204" pitchFamily="34" charset="0"/>
              </a:rPr>
              <a:t>Unknown ≠ Zero</a:t>
            </a: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Coder</a:t>
            </a:r>
          </a:p>
          <a:p>
            <a:pPr algn="ctr"/>
            <a:r>
              <a:rPr lang="en-US" dirty="0"/>
              <a:t>Rise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0D101A-E411-23F3-2090-DE6D436546EB}"/>
              </a:ext>
            </a:extLst>
          </p:cNvPr>
          <p:cNvSpPr txBox="1"/>
          <p:nvPr/>
        </p:nvSpPr>
        <p:spPr>
          <a:xfrm>
            <a:off x="1127265" y="1099369"/>
            <a:ext cx="4683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Target Users: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• SOC Assessment &amp; Supervisory Teams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• Cybersecurity Supervisors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• Critical Sector Entities (CSEs)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• Security Governance Teams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7D0944-977B-A8EF-5D49-37CF506F7F7F}"/>
              </a:ext>
            </a:extLst>
          </p:cNvPr>
          <p:cNvSpPr txBox="1"/>
          <p:nvPr/>
        </p:nvSpPr>
        <p:spPr>
          <a:xfrm>
            <a:off x="5810865" y="1065506"/>
            <a:ext cx="561421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Benefits: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Faster Evidence Triage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noProof="1">
                <a:latin typeface="Arial" panose="020B0604020202020204" pitchFamily="34" charset="0"/>
                <a:cs typeface="Arial" panose="020B0604020202020204" pitchFamily="34" charset="0"/>
              </a:rPr>
              <a:t>Better Sample Prioritisation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noProof="1">
                <a:latin typeface="Arial" panose="020B0604020202020204" pitchFamily="34" charset="0"/>
                <a:cs typeface="Arial" panose="020B0604020202020204" pitchFamily="34" charset="0"/>
              </a:rPr>
              <a:t>Evidence-backed &amp; Traceable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noProof="1">
                <a:latin typeface="Arial" panose="020B0604020202020204" pitchFamily="34" charset="0"/>
                <a:cs typeface="Arial" panose="020B0604020202020204" pitchFamily="34" charset="0"/>
              </a:rPr>
              <a:t>Improved Assessment Consistency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noProof="1">
                <a:latin typeface="Arial" panose="020B0604020202020204" pitchFamily="34" charset="0"/>
                <a:cs typeface="Arial" panose="020B0604020202020204" pitchFamily="34" charset="0"/>
              </a:rPr>
              <a:t>Operational Weakness Visibility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noProof="1">
                <a:latin typeface="Arial" panose="020B0604020202020204" pitchFamily="34" charset="0"/>
                <a:cs typeface="Arial" panose="020B0604020202020204" pitchFamily="34" charset="0"/>
              </a:rPr>
              <a:t>Multi-CSE Assessment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noProof="1">
                <a:latin typeface="Arial" panose="020B0604020202020204" pitchFamily="34" charset="0"/>
                <a:cs typeface="Arial" panose="020B0604020202020204" pitchFamily="34" charset="0"/>
              </a:rPr>
              <a:t>Controlled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noProof="1">
                <a:latin typeface="Arial" panose="020B0604020202020204" pitchFamily="34" charset="0"/>
                <a:cs typeface="Arial" panose="020B0604020202020204" pitchFamily="34" charset="0"/>
              </a:rPr>
              <a:t>Human-in-the-loop decision making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981D58-A807-950E-F471-14C2E0886028}"/>
              </a:ext>
            </a:extLst>
          </p:cNvPr>
          <p:cNvSpPr txBox="1"/>
          <p:nvPr/>
        </p:nvSpPr>
        <p:spPr>
          <a:xfrm>
            <a:off x="1127265" y="3429000"/>
            <a:ext cx="1070094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Potential Impacts: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Traditional Supervisory Assessment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Manual Sampling → Fragmented Evidence → Time-consuming Review → Difficult Prioritisation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With SAT-SA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Structured Evidence → Analytics → Prioritised Review → Evidence-backed Findings → Human Supervisory Assessment</a:t>
            </a:r>
          </a:p>
          <a:p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Coder</a:t>
            </a:r>
          </a:p>
          <a:p>
            <a:pPr algn="ctr"/>
            <a:r>
              <a:rPr lang="en-US" dirty="0"/>
              <a:t>Rise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26BB743-2BBA-18E5-9F47-BD3CBDB5E205}"/>
              </a:ext>
            </a:extLst>
          </p:cNvPr>
          <p:cNvSpPr txBox="1"/>
          <p:nvPr/>
        </p:nvSpPr>
        <p:spPr>
          <a:xfrm>
            <a:off x="955701" y="1095375"/>
            <a:ext cx="2359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Researches: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C3860E-E76A-8F38-9458-138B77CEF020}"/>
              </a:ext>
            </a:extLst>
          </p:cNvPr>
          <p:cNvSpPr/>
          <p:nvPr/>
        </p:nvSpPr>
        <p:spPr>
          <a:xfrm>
            <a:off x="1992018" y="1645770"/>
            <a:ext cx="2992937" cy="217667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Supervisory Analytics: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Evidence-based assessment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Operational pattern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Multi-CSE assessment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Sample prioritisation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A5733E-72F3-9416-EA7B-038FF97E2387}"/>
              </a:ext>
            </a:extLst>
          </p:cNvPr>
          <p:cNvSpPr/>
          <p:nvPr/>
        </p:nvSpPr>
        <p:spPr>
          <a:xfrm>
            <a:off x="5948517" y="1645770"/>
            <a:ext cx="3303638" cy="211015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SOC Operational Evidence: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Alert &amp; case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Investigation &amp; escalation records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Operational behaviour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Evidence-based supervisory review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B2B9B8-FA4E-8F3F-A121-0CA08EA799A0}"/>
              </a:ext>
            </a:extLst>
          </p:cNvPr>
          <p:cNvSpPr txBox="1"/>
          <p:nvPr/>
        </p:nvSpPr>
        <p:spPr>
          <a:xfrm>
            <a:off x="955701" y="3822442"/>
            <a:ext cx="2072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References: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ACFA3E-6C9F-292E-684F-FE9932402E1E}"/>
              </a:ext>
            </a:extLst>
          </p:cNvPr>
          <p:cNvSpPr txBox="1"/>
          <p:nvPr/>
        </p:nvSpPr>
        <p:spPr>
          <a:xfrm>
            <a:off x="1029929" y="4284107"/>
            <a:ext cx="1020637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NIST Cybersecurity Framework (CSF) 2.0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IN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https://www.nist.gov/cyberframework</a:t>
            </a:r>
            <a:endParaRPr lang="en-IN" sz="2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 startAt="2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MITRE ATT&amp;CK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IN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https://attack.mitre.org/</a:t>
            </a:r>
            <a:endParaRPr lang="en-IN" sz="2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 startAt="3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ISO/IEC 27001 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IN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https://www.iso.org/</a:t>
            </a:r>
            <a:endParaRPr lang="en-IN" sz="2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7767</TotalTime>
  <Words>584</Words>
  <Application>Microsoft Office PowerPoint</Application>
  <PresentationFormat>Widescreen</PresentationFormat>
  <Paragraphs>122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DETAILS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Pranav Sharma</cp:lastModifiedBy>
  <cp:revision>154</cp:revision>
  <dcterms:created xsi:type="dcterms:W3CDTF">2013-12-12T18:46:50Z</dcterms:created>
  <dcterms:modified xsi:type="dcterms:W3CDTF">2026-09-06T05:48:36Z</dcterms:modified>
  <cp:category/>
</cp:coreProperties>
</file>